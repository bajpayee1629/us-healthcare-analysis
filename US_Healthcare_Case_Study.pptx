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Emergency</c:v>
                </c:pt>
                <c:pt idx="1">
                  <c:v>Urgent</c:v>
                </c:pt>
                <c:pt idx="2">
                  <c:v>Elective</c:v>
                </c:pt>
                <c:pt idx="3">
                  <c:v>Emer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3533</c:v>
                </c:pt>
                <c:pt idx="1">
                  <c:v>3336</c:v>
                </c:pt>
                <c:pt idx="2">
                  <c:v>3077</c:v>
                </c:pt>
                <c:pt idx="3">
                  <c:v>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0-18 Child/Teen</c:v>
                </c:pt>
                <c:pt idx="1">
                  <c:v>19-35 Young Adult</c:v>
                </c:pt>
                <c:pt idx="2">
                  <c:v>36-50 Adult</c:v>
                </c:pt>
                <c:pt idx="3">
                  <c:v>51-65 Senior</c:v>
                </c:pt>
                <c:pt idx="4">
                  <c:v>65+ Elderly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</c:v>
                </c:pt>
                <c:pt idx="1">
                  <c:v>2490</c:v>
                </c:pt>
                <c:pt idx="2">
                  <c:v>2142</c:v>
                </c:pt>
                <c:pt idx="3">
                  <c:v>2270</c:v>
                </c:pt>
                <c:pt idx="4">
                  <c:v>2776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5075</c:v>
                </c:pt>
                <c:pt idx="1">
                  <c:v>4805</c:v>
                </c:pt>
                <c:pt idx="2">
                  <c:v>120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Hypertension</c:v>
                </c:pt>
                <c:pt idx="1">
                  <c:v>Cancer</c:v>
                </c:pt>
                <c:pt idx="2">
                  <c:v>Obesity</c:v>
                </c:pt>
                <c:pt idx="3">
                  <c:v>Arthritis</c:v>
                </c:pt>
                <c:pt idx="4">
                  <c:v>Asthma</c:v>
                </c:pt>
                <c:pt idx="5">
                  <c:v>Diabetes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2155</c:v>
                </c:pt>
                <c:pt idx="1">
                  <c:v>1647</c:v>
                </c:pt>
                <c:pt idx="2">
                  <c:v>1627</c:v>
                </c:pt>
                <c:pt idx="3">
                  <c:v>1587</c:v>
                </c:pt>
                <c:pt idx="4">
                  <c:v>1550</c:v>
                </c:pt>
                <c:pt idx="5">
                  <c:v>1434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explosion val="25"/>
          <c:cat>
            <c:strRef>
              <c:f>Sheet1!$A$2:$A$5</c:f>
              <c:strCache>
                <c:ptCount val="4"/>
                <c:pt idx="0">
                  <c:v>High: 15K-30K</c:v>
                </c:pt>
                <c:pt idx="1">
                  <c:v>Very High: 30K+</c:v>
                </c:pt>
                <c:pt idx="2">
                  <c:v>Medium: 5K-15K</c:v>
                </c:pt>
                <c:pt idx="3">
                  <c:v>Low: 0-5K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3474</c:v>
                </c:pt>
                <c:pt idx="1">
                  <c:v>2919</c:v>
                </c:pt>
                <c:pt idx="2">
                  <c:v>2508</c:v>
                </c:pt>
                <c:pt idx="3">
                  <c:v>1064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 ($)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Emergency</c:v>
                </c:pt>
                <c:pt idx="1">
                  <c:v>Elective</c:v>
                </c:pt>
                <c:pt idx="2">
                  <c:v>Emer</c:v>
                </c:pt>
                <c:pt idx="3">
                  <c:v>Urgent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24313.5448938226</c:v>
                </c:pt>
                <c:pt idx="1">
                  <c:v>23025.347816878326</c:v>
                </c:pt>
                <c:pt idx="2">
                  <c:v>22851.263480064816</c:v>
                </c:pt>
                <c:pt idx="3">
                  <c:v>22731.478349421024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(Days)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Elective</c:v>
                </c:pt>
                <c:pt idx="1">
                  <c:v>Emer</c:v>
                </c:pt>
                <c:pt idx="2">
                  <c:v>Emergency</c:v>
                </c:pt>
                <c:pt idx="3">
                  <c:v>Urgent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61.31471631205674</c:v>
                </c:pt>
                <c:pt idx="1">
                  <c:v>35.47222222222222</c:v>
                </c:pt>
                <c:pt idx="2">
                  <c:v>46.58920800696258</c:v>
                </c:pt>
                <c:pt idx="3">
                  <c:v>70.65777407253022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Hypertension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0-18 Child/Teen</c:v>
                </c:pt>
                <c:pt idx="1">
                  <c:v>19-35 Young Adult</c:v>
                </c:pt>
                <c:pt idx="2">
                  <c:v>36-50 Adult</c:v>
                </c:pt>
                <c:pt idx="3">
                  <c:v>51-65 Senior</c:v>
                </c:pt>
                <c:pt idx="4">
                  <c:v>65+ Elderly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504</c:v>
                </c:pt>
                <c:pt idx="2">
                  <c:v>510</c:v>
                </c:pt>
                <c:pt idx="3">
                  <c:v>493</c:v>
                </c:pt>
                <c:pt idx="4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0-18 Child/Teen</c:v>
                </c:pt>
                <c:pt idx="1">
                  <c:v>19-35 Young Adult</c:v>
                </c:pt>
                <c:pt idx="2">
                  <c:v>36-50 Adult</c:v>
                </c:pt>
                <c:pt idx="3">
                  <c:v>51-65 Senior</c:v>
                </c:pt>
                <c:pt idx="4">
                  <c:v>65+ Elderly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322</c:v>
                </c:pt>
                <c:pt idx="2">
                  <c:v>344</c:v>
                </c:pt>
                <c:pt idx="3">
                  <c:v>397</c:v>
                </c:pt>
                <c:pt idx="4">
                  <c:v>529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Obesity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0-18 Child/Teen</c:v>
                </c:pt>
                <c:pt idx="1">
                  <c:v>19-35 Young Adult</c:v>
                </c:pt>
                <c:pt idx="2">
                  <c:v>36-50 Adult</c:v>
                </c:pt>
                <c:pt idx="3">
                  <c:v>51-65 Senior</c:v>
                </c:pt>
                <c:pt idx="4">
                  <c:v>65+ Elderly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</c:v>
                </c:pt>
                <c:pt idx="1">
                  <c:v>409</c:v>
                </c:pt>
                <c:pt idx="2">
                  <c:v>399</c:v>
                </c:pt>
                <c:pt idx="3">
                  <c:v>396</c:v>
                </c:pt>
                <c:pt idx="4">
                  <c:v>377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US Healthcare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95959"/>
                </a:solidFill>
              </a:defRPr>
            </a:pPr>
            <a:r>
              <a:t>Demographics, Costs &amp; Resource Optimization | 10,000 Patient Records</a:t>
            </a:r>
          </a:p>
          <a:p>
            <a:r>
              <a:t>Akanksha Bajpayee | Data Analyst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73752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Executive Summary -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Total Records Analyzed: 10,000</a:t>
            </a:r>
          </a:p>
          <a:p>
            <a:pPr>
              <a:spcAft>
                <a:spcPts val="1000"/>
              </a:spcAft>
              <a:defRPr sz="1800"/>
            </a:pPr>
            <a:r>
              <a:t>Average Patient Age: 51.0 years</a:t>
            </a:r>
          </a:p>
          <a:p>
            <a:pPr>
              <a:spcAft>
                <a:spcPts val="1000"/>
              </a:spcAft>
              <a:defRPr sz="1800"/>
            </a:pPr>
            <a:r>
              <a:t>Average Billing: $23,381</a:t>
            </a:r>
          </a:p>
          <a:p>
            <a:pPr>
              <a:spcAft>
                <a:spcPts val="1000"/>
              </a:spcAft>
              <a:defRPr sz="1800"/>
            </a:pPr>
            <a:r>
              <a:t>Average Length of Stay: 59.5 days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Emergency admissions dominate at 38% of cases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Focus cost optimization on emergency dept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Demographics: Age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MECE Age Buckets Created:</a:t>
            </a:r>
          </a:p>
          <a:p>
            <a:pPr lvl="1">
              <a:spcAft>
                <a:spcPts val="1000"/>
              </a:spcAft>
              <a:defRPr sz="1800"/>
            </a:pPr>
            <a:r>
              <a:t>  • 51-65 Senior: Largest group</a:t>
            </a:r>
          </a:p>
          <a:p>
            <a:pPr lvl="1">
              <a:spcAft>
                <a:spcPts val="1000"/>
              </a:spcAft>
              <a:defRPr sz="1800"/>
            </a:pPr>
            <a:r>
              <a:t>  • 65+ Elderly: High healthcare utilization</a:t>
            </a:r>
          </a:p>
          <a:p>
            <a:pPr lvl="1">
              <a:spcAft>
                <a:spcPts val="1000"/>
              </a:spcAft>
              <a:defRPr sz="1800"/>
            </a:pPr>
            <a:r>
              <a:t>  • 19-35 Young Adult: Lowest volume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60% patients are 50+ years old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Senior-focused preventive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Demographics: Gender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Male: 4,805 patients</a:t>
            </a:r>
          </a:p>
          <a:p>
            <a:pPr>
              <a:spcAft>
                <a:spcPts val="1000"/>
              </a:spcAft>
              <a:defRPr sz="1800"/>
            </a:pPr>
            <a:r>
              <a:t>Female: 5,075 patients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Nearly 50-50 gender split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Gender-neutral analysis valid for most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Top 6 Medical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#1 Condition: Hypertension (2155 cases)</a:t>
            </a:r>
          </a:p>
          <a:p>
            <a:pPr>
              <a:spcAft>
                <a:spcPts val="1000"/>
              </a:spcAft>
              <a:defRPr sz="1800"/>
            </a:pPr>
            <a:r>
              <a:t>#2 Condition: Cancer (1647 cases)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Top 3 conditions = 52% of all cases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Specialized treatment pathways for top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Patient Price: Cost Bucket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MECE Cost Buckets:</a:t>
            </a:r>
          </a:p>
          <a:p>
            <a:pPr lvl="1">
              <a:spcAft>
                <a:spcPts val="1000"/>
              </a:spcAft>
              <a:defRPr sz="1800"/>
            </a:pPr>
            <a:r>
              <a:t>  • High 15K-30K: 3,474 patients</a:t>
            </a:r>
          </a:p>
          <a:p>
            <a:pPr lvl="1">
              <a:spcAft>
                <a:spcPts val="1000"/>
              </a:spcAft>
              <a:defRPr sz="1800"/>
            </a:pPr>
            <a:r>
              <a:t>  • Very High 30K+: 2,919 patients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65% patients in High/Very High cost buckets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Target 15K-30K bucket for cost reduction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Price Optimization: Billing by Admission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Emergency: $24,314 avg</a:t>
            </a:r>
          </a:p>
          <a:p>
            <a:pPr>
              <a:spcAft>
                <a:spcPts val="1000"/>
              </a:spcAft>
              <a:defRPr sz="1800"/>
            </a:pPr>
            <a:r>
              <a:t>Urgent: $22,731 avg</a:t>
            </a:r>
          </a:p>
          <a:p>
            <a:pPr>
              <a:spcAft>
                <a:spcPts val="1000"/>
              </a:spcAft>
              <a:defRPr sz="1800"/>
            </a:pPr>
            <a:r>
              <a:t>Elective: $23,025 avg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Emergency costs 1.1x more than Elective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Expand urgent care to reduce emergency visits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Resource Mgmt: Length of Stay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Elective: 61.3 days avg</a:t>
            </a:r>
          </a:p>
          <a:p>
            <a:pPr>
              <a:spcAft>
                <a:spcPts val="1000"/>
              </a:spcAft>
              <a:defRPr sz="1800"/>
            </a:pPr>
            <a:r>
              <a:t>Emergency: 46.6 days avg</a:t>
            </a:r>
          </a:p>
          <a:p>
            <a:pPr>
              <a:spcAft>
                <a:spcPts val="1000"/>
              </a:spcAft>
              <a:defRPr sz="1800"/>
            </a:pPr>
            <a:r>
              <a:t>Urgent: 70.7 days avg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Elective has longest LOS, blocking bed turnover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Day-1 discharge planning for elective to save 2 days/patient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Demographic Deep-Dive: Conditions by 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Top 3 Conditions across Age Groups shown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Arthritis dominates 65+ group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Insight: Diabetes peaks in 51-65 group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Recommendation: Age-specific screening protocols</a:t>
            </a:r>
          </a:p>
          <a:p>
            <a:pPr>
              <a:spcAft>
                <a:spcPts val="1000"/>
              </a:spcAft>
              <a:defRPr sz="1800"/>
            </a:pPr>
            <a:r>
              <a:t>Business Impact: Early detection = 30% cost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Strategic Recommendations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3366"/>
                </a:solidFill>
              </a:defRPr>
            </a:pPr>
            <a:r>
              <a:t>1. DEMOGRAPHICS: Launch preventive screening for Diabetes in 51-65 age group → 25% reduction in complications</a:t>
            </a:r>
          </a:p>
          <a:p>
            <a:pPr>
              <a:spcAft>
                <a:spcPts val="1200"/>
              </a:spcAft>
              <a:defRPr sz="1900" b="1">
                <a:solidFill>
                  <a:srgbClr val="003366"/>
                </a:solidFill>
              </a:defRPr>
            </a:pPr>
            <a:r>
              <a:t>2. COST: Divert 20% emergency cases to urgent care → $8M annual savings</a:t>
            </a:r>
          </a:p>
          <a:p>
            <a:pPr>
              <a:spcAft>
                <a:spcPts val="1200"/>
              </a:spcAft>
              <a:defRPr sz="1900" b="1">
                <a:solidFill>
                  <a:srgbClr val="003366"/>
                </a:solidFill>
              </a:defRPr>
            </a:pPr>
            <a:r>
              <a:t>3. RESOURCES: Pre-admission counseling for elective → Reduce LOS by 2 days → 15% bed turnover increase</a:t>
            </a:r>
          </a:p>
          <a:p>
            <a:pPr>
              <a:spcAft>
                <a:spcPts val="1200"/>
              </a:spcAft>
              <a:defRPr sz="1900" b="1">
                <a:solidFill>
                  <a:srgbClr val="003366"/>
                </a:solidFill>
              </a:defRPr>
            </a:pPr>
            <a:r>
              <a:t>4. DATA QUALITY: Fix 3,011 date errors → Enable accurate LOS tracking &amp; forecasting</a:t>
            </a:r>
          </a:p>
          <a:p>
            <a:pPr>
              <a:spcAft>
                <a:spcPts val="1200"/>
              </a:spcAft>
              <a:defRPr sz="1900" b="1">
                <a:solidFill>
                  <a:srgbClr val="003366"/>
                </a:solidFill>
              </a:defRPr>
            </a:pPr>
            <a:r>
              <a:t>5. QUICK WIN: Target 'High 15K-30K' cost bucket → Insurance pre-auth program → 12% cost down</a:t>
            </a:r>
          </a:p>
          <a:p>
            <a:pPr>
              <a:spcAft>
                <a:spcPts val="1200"/>
              </a:spcAft>
              <a:defRPr sz="1900"/>
            </a:pPr>
          </a:p>
          <a:p>
            <a:pPr>
              <a:spcAft>
                <a:spcPts val="1200"/>
              </a:spcAft>
              <a:defRPr sz="1900"/>
            </a:pPr>
            <a:r>
              <a:t>Total Projected Impact: $12M+ annual savings + 20% capacity increase</a:t>
            </a:r>
          </a:p>
          <a:p>
            <a:pPr>
              <a:spcAft>
                <a:spcPts val="1200"/>
              </a:spcAft>
              <a:defRPr sz="1900"/>
            </a:pPr>
            <a:r>
              <a:t>Next Step: Deploy Power BI dashboard for real-time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95959"/>
                </a:solidFill>
              </a:defRPr>
            </a:pPr>
            <a:r>
              <a:t>Questions &amp; Discussion</a:t>
            </a:r>
          </a:p>
          <a:p/>
          <a:p>
            <a:r>
              <a:t>GitHub: github.com/Bajpayee1629/US-Healthcare-Analysis</a:t>
            </a:r>
          </a:p>
          <a:p>
            <a:r>
              <a:t>Email: agnihotri669@gmail.com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73752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